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Play"/>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132236-CB05-491A-ADC2-CE16D134633F}">
  <a:tblStyle styleId="{BA132236-CB05-491A-ADC2-CE16D134633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A1C1D2C-FE6A-415E-B07B-84EDA8A8B4CF}" styleName="Table_1">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Aptos"/>
          <a:ea typeface="Aptos"/>
          <a:cs typeface="Aptos"/>
        </a:font>
        <a:schemeClr val="lt1"/>
      </a:tcTxStyle>
      <a:tcStyle>
        <a:fill>
          <a:solidFill>
            <a:schemeClr val="dk1"/>
          </a:solidFill>
        </a:fill>
      </a:tcStyle>
    </a:lastCol>
    <a:firstCol>
      <a:tcTxStyle b="on" i="off">
        <a:font>
          <a:latin typeface="Aptos"/>
          <a:ea typeface="Aptos"/>
          <a:cs typeface="Aptos"/>
        </a:font>
        <a:schemeClr val="lt1"/>
      </a:tcTxStyle>
      <a:tcStyle>
        <a:fill>
          <a:solidFill>
            <a:schemeClr val="dk1"/>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Aptos"/>
          <a:ea typeface="Aptos"/>
          <a:cs typeface="Aptos"/>
        </a:font>
        <a:schemeClr val="dk1"/>
      </a:tcTxStyle>
    </a:seCell>
    <a:swCell>
      <a:tcTxStyle b="on" i="off">
        <a:font>
          <a:latin typeface="Aptos"/>
          <a:ea typeface="Aptos"/>
          <a:cs typeface="Aptos"/>
        </a:font>
        <a:schemeClr val="dk1"/>
      </a:tcTxStyle>
    </a:swCell>
    <a:firstRow>
      <a:tcTxStyle b="on" i="off">
        <a:font>
          <a:latin typeface="Aptos"/>
          <a:ea typeface="Aptos"/>
          <a:cs typeface="Aptos"/>
        </a:font>
        <a:schemeClr val="lt1"/>
      </a:tcTxStyle>
      <a:tcStyle>
        <a:tcBdr>
          <a:bottom>
            <a:ln cap="flat" cmpd="sng" w="25400">
              <a:solidFill>
                <a:schemeClr val="dk1"/>
              </a:solidFill>
              <a:prstDash val="solid"/>
              <a:round/>
              <a:headEnd len="sm" w="sm" type="none"/>
              <a:tailEnd len="sm" w="sm" type="none"/>
            </a:ln>
          </a:bottom>
        </a:tcBdr>
        <a:fill>
          <a:solidFill>
            <a:schemeClr val="dk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lay-bold.fntdata"/><Relationship Id="rId41" Type="http://schemas.openxmlformats.org/officeDocument/2006/relationships/font" Target="fonts/Play-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0199a258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0199a25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01ba0d7f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01ba0d7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83" name="Shape 83"/>
        <p:cNvGrpSpPr/>
        <p:nvPr/>
      </p:nvGrpSpPr>
      <p:grpSpPr>
        <a:xfrm>
          <a:off x="0" y="0"/>
          <a:ext cx="0" cy="0"/>
          <a:chOff x="0" y="0"/>
          <a:chExt cx="0" cy="0"/>
        </a:xfrm>
      </p:grpSpPr>
      <p:sp>
        <p:nvSpPr>
          <p:cNvPr id="84" name="Google Shape;84;p13"/>
          <p:cNvSpPr txBox="1"/>
          <p:nvPr>
            <p:ph idx="1" type="subTitle"/>
          </p:nvPr>
        </p:nvSpPr>
        <p:spPr>
          <a:xfrm>
            <a:off x="2110580" y="4941210"/>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Dr. SHRUTI BAID </a:t>
            </a:r>
            <a:endParaRPr/>
          </a:p>
          <a:p>
            <a:pPr indent="0" lvl="0" marL="0" rtl="0" algn="ctr">
              <a:lnSpc>
                <a:spcPct val="90000"/>
              </a:lnSpc>
              <a:spcBef>
                <a:spcPts val="1000"/>
              </a:spcBef>
              <a:spcAft>
                <a:spcPts val="0"/>
              </a:spcAft>
              <a:buClr>
                <a:schemeClr val="dk1"/>
              </a:buClr>
              <a:buSzPts val="2400"/>
              <a:buNone/>
            </a:pPr>
            <a:r>
              <a:rPr lang="en-US"/>
              <a:t>MD. NUTRITION AND DIETETICS </a:t>
            </a:r>
            <a:endParaRPr/>
          </a:p>
        </p:txBody>
      </p:sp>
      <p:pic>
        <p:nvPicPr>
          <p:cNvPr id="85" name="Google Shape;85;p13"/>
          <p:cNvPicPr preferRelativeResize="0"/>
          <p:nvPr/>
        </p:nvPicPr>
        <p:blipFill rotWithShape="1">
          <a:blip r:embed="rId3">
            <a:alphaModFix/>
          </a:blip>
          <a:srcRect b="0" l="0" r="0" t="0"/>
          <a:stretch/>
        </p:blipFill>
        <p:spPr>
          <a:xfrm>
            <a:off x="0" y="0"/>
            <a:ext cx="12192000" cy="705002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idx="1" type="body"/>
          </p:nvPr>
        </p:nvSpPr>
        <p:spPr>
          <a:xfrm>
            <a:off x="417625" y="320452"/>
            <a:ext cx="10515600" cy="2802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600"/>
              <a:buNone/>
            </a:pPr>
            <a:r>
              <a:rPr b="1" lang="en-US" sz="3600">
                <a:latin typeface="Times New Roman"/>
                <a:ea typeface="Times New Roman"/>
                <a:cs typeface="Times New Roman"/>
                <a:sym typeface="Times New Roman"/>
              </a:rPr>
              <a:t>DEFINITION</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3600"/>
              <a:buNone/>
            </a:pPr>
            <a:r>
              <a:rPr lang="en-US" sz="3600">
                <a:latin typeface="Times New Roman"/>
                <a:ea typeface="Times New Roman"/>
                <a:cs typeface="Times New Roman"/>
                <a:sym typeface="Times New Roman"/>
              </a:rPr>
              <a:t>Adulteration is defined as the process by which the quality or the nature of a given substance is reduced through the addition of a foreign or an inferior substance and the removal of a vital element.</a:t>
            </a:r>
            <a:endParaRPr>
              <a:latin typeface="Times New Roman"/>
              <a:ea typeface="Times New Roman"/>
              <a:cs typeface="Times New Roman"/>
              <a:sym typeface="Times New Roman"/>
            </a:endParaRPr>
          </a:p>
        </p:txBody>
      </p:sp>
      <p:pic>
        <p:nvPicPr>
          <p:cNvPr id="91" name="Google Shape;91;p14"/>
          <p:cNvPicPr preferRelativeResize="0"/>
          <p:nvPr/>
        </p:nvPicPr>
        <p:blipFill rotWithShape="1">
          <a:blip r:embed="rId3">
            <a:alphaModFix/>
          </a:blip>
          <a:srcRect b="0" l="0" r="0" t="0"/>
          <a:stretch/>
        </p:blipFill>
        <p:spPr>
          <a:xfrm>
            <a:off x="6248731" y="3218515"/>
            <a:ext cx="5734579" cy="35403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latin typeface="Times New Roman"/>
                <a:ea typeface="Times New Roman"/>
                <a:cs typeface="Times New Roman"/>
                <a:sym typeface="Times New Roman"/>
              </a:rPr>
              <a:t>TYPES OF ADULTERANTS </a:t>
            </a:r>
            <a:endParaRPr b="1">
              <a:latin typeface="Times New Roman"/>
              <a:ea typeface="Times New Roman"/>
              <a:cs typeface="Times New Roman"/>
              <a:sym typeface="Times New Roman"/>
            </a:endParaRPr>
          </a:p>
        </p:txBody>
      </p:sp>
      <p:sp>
        <p:nvSpPr>
          <p:cNvPr id="97" name="Google Shape;9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34950" lvl="0" marL="228600" rtl="0" algn="l">
              <a:lnSpc>
                <a:spcPct val="90000"/>
              </a:lnSpc>
              <a:spcBef>
                <a:spcPts val="0"/>
              </a:spcBef>
              <a:spcAft>
                <a:spcPts val="0"/>
              </a:spcAft>
              <a:buClr>
                <a:schemeClr val="dk1"/>
              </a:buClr>
              <a:buSzPts val="2900"/>
              <a:buChar char="•"/>
            </a:pPr>
            <a:r>
              <a:rPr b="1" lang="en-US" sz="2900">
                <a:latin typeface="Times New Roman"/>
                <a:ea typeface="Times New Roman"/>
                <a:cs typeface="Times New Roman"/>
                <a:sym typeface="Times New Roman"/>
              </a:rPr>
              <a:t>INTENTIONAL - </a:t>
            </a:r>
            <a:r>
              <a:rPr lang="en-US" sz="2900">
                <a:latin typeface="Times New Roman"/>
                <a:ea typeface="Times New Roman"/>
                <a:cs typeface="Times New Roman"/>
                <a:sym typeface="Times New Roman"/>
              </a:rPr>
              <a:t>Intentional adulterants are those substances that are added as a deliberate act on the part of the adulterer with the intention to increase the margin of profit. </a:t>
            </a:r>
            <a:endParaRPr sz="29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sz="2900">
                <a:latin typeface="Times New Roman"/>
                <a:ea typeface="Times New Roman"/>
                <a:cs typeface="Times New Roman"/>
                <a:sym typeface="Times New Roman"/>
              </a:rPr>
              <a:t>Eg. sand, marble chips, stones, mud, chalk powder, water, dyes, etc., These adulterants cause harmful effects on the body.</a:t>
            </a:r>
            <a:endParaRPr sz="2900">
              <a:latin typeface="Times New Roman"/>
              <a:ea typeface="Times New Roman"/>
              <a:cs typeface="Times New Roman"/>
              <a:sym typeface="Times New Roman"/>
            </a:endParaRPr>
          </a:p>
          <a:p>
            <a:pPr indent="-234950" lvl="0" marL="228600" rtl="0" algn="l">
              <a:lnSpc>
                <a:spcPct val="90000"/>
              </a:lnSpc>
              <a:spcBef>
                <a:spcPts val="1000"/>
              </a:spcBef>
              <a:spcAft>
                <a:spcPts val="0"/>
              </a:spcAft>
              <a:buClr>
                <a:schemeClr val="dk1"/>
              </a:buClr>
              <a:buSzPts val="2900"/>
              <a:buChar char="•"/>
            </a:pPr>
            <a:r>
              <a:rPr b="1" lang="en-US" sz="2900">
                <a:latin typeface="Times New Roman"/>
                <a:ea typeface="Times New Roman"/>
                <a:cs typeface="Times New Roman"/>
                <a:sym typeface="Times New Roman"/>
              </a:rPr>
              <a:t>INCIDENTAL - </a:t>
            </a:r>
            <a:r>
              <a:rPr lang="en-US" sz="2900">
                <a:latin typeface="Times New Roman"/>
                <a:ea typeface="Times New Roman"/>
                <a:cs typeface="Times New Roman"/>
                <a:sym typeface="Times New Roman"/>
              </a:rPr>
              <a:t>These adulterants are found in food substances due to ignorance, negligence or lack of proper facilities. It is not a willfull act on the part of the adulterer. </a:t>
            </a:r>
            <a:endParaRPr sz="29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sz="2900">
                <a:latin typeface="Times New Roman"/>
                <a:ea typeface="Times New Roman"/>
                <a:cs typeface="Times New Roman"/>
                <a:sym typeface="Times New Roman"/>
              </a:rPr>
              <a:t>Eg. pesticides, droppings of rodents, larvae in food</a:t>
            </a:r>
            <a:r>
              <a:rPr b="1" lang="en-US" sz="2900">
                <a:latin typeface="Times New Roman"/>
                <a:ea typeface="Times New Roman"/>
                <a:cs typeface="Times New Roman"/>
                <a:sym typeface="Times New Roman"/>
              </a:rPr>
              <a:t>.</a:t>
            </a:r>
            <a:endParaRPr sz="29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b="1" sz="29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sz="29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1026348" y="593772"/>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latin typeface="Times New Roman"/>
                <a:ea typeface="Times New Roman"/>
                <a:cs typeface="Times New Roman"/>
                <a:sym typeface="Times New Roman"/>
              </a:rPr>
              <a:t>Food and adulterants found in them and their harmful effect</a:t>
            </a:r>
            <a:endParaRPr>
              <a:latin typeface="Times New Roman"/>
              <a:ea typeface="Times New Roman"/>
              <a:cs typeface="Times New Roman"/>
              <a:sym typeface="Times New Roman"/>
            </a:endParaRPr>
          </a:p>
        </p:txBody>
      </p:sp>
      <p:pic>
        <p:nvPicPr>
          <p:cNvPr id="103" name="Google Shape;103;p16"/>
          <p:cNvPicPr preferRelativeResize="0"/>
          <p:nvPr/>
        </p:nvPicPr>
        <p:blipFill rotWithShape="1">
          <a:blip r:embed="rId3">
            <a:alphaModFix/>
          </a:blip>
          <a:srcRect b="13732" l="8983" r="0" t="8966"/>
          <a:stretch/>
        </p:blipFill>
        <p:spPr>
          <a:xfrm>
            <a:off x="5863581" y="2490195"/>
            <a:ext cx="6179345" cy="4283137"/>
          </a:xfrm>
          <a:prstGeom prst="rect">
            <a:avLst/>
          </a:prstGeom>
          <a:noFill/>
          <a:ln>
            <a:noFill/>
          </a:ln>
        </p:spPr>
      </p:pic>
      <p:pic>
        <p:nvPicPr>
          <p:cNvPr id="104" name="Google Shape;104;p16"/>
          <p:cNvPicPr preferRelativeResize="0"/>
          <p:nvPr/>
        </p:nvPicPr>
        <p:blipFill rotWithShape="1">
          <a:blip r:embed="rId4">
            <a:alphaModFix/>
          </a:blip>
          <a:srcRect b="0" l="0" r="0" t="0"/>
          <a:stretch/>
        </p:blipFill>
        <p:spPr>
          <a:xfrm>
            <a:off x="423334" y="2490195"/>
            <a:ext cx="5339164" cy="42831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7"/>
          <p:cNvPicPr preferRelativeResize="0"/>
          <p:nvPr/>
        </p:nvPicPr>
        <p:blipFill rotWithShape="1">
          <a:blip r:embed="rId3">
            <a:alphaModFix/>
          </a:blip>
          <a:srcRect b="0" l="0" r="0" t="0"/>
          <a:stretch/>
        </p:blipFill>
        <p:spPr>
          <a:xfrm>
            <a:off x="1555750" y="-13275"/>
            <a:ext cx="8427169" cy="6871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8"/>
          <p:cNvPicPr preferRelativeResize="0"/>
          <p:nvPr/>
        </p:nvPicPr>
        <p:blipFill rotWithShape="1">
          <a:blip r:embed="rId3">
            <a:alphaModFix/>
          </a:blip>
          <a:srcRect b="0" l="0" r="0" t="0"/>
          <a:stretch/>
        </p:blipFill>
        <p:spPr>
          <a:xfrm>
            <a:off x="1111302" y="-22135"/>
            <a:ext cx="9928101"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idx="1" type="body"/>
          </p:nvPr>
        </p:nvSpPr>
        <p:spPr>
          <a:xfrm>
            <a:off x="410575" y="196725"/>
            <a:ext cx="11187000" cy="63219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Font typeface="Times New Roman"/>
              <a:buChar char="•"/>
            </a:pPr>
            <a:r>
              <a:rPr b="1" lang="en-US">
                <a:latin typeface="Times New Roman"/>
                <a:ea typeface="Times New Roman"/>
                <a:cs typeface="Times New Roman"/>
                <a:sym typeface="Times New Roman"/>
              </a:rPr>
              <a:t>Packaging Hazards: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Plastics such as cellulose acetate, polyamide polyethylene polypropylene and polyvinyl chloride are often used as packing materials because they are light in weight and are resistant to diffusion due to solvents and high temperatures.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However care should be taken that only food grade plastic packing materials should be used for packaging foods to prevent the following packaging hazards.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1. Production of noxious thermal breakdown products which are injurious to health.</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2. Formation of toxic residues that result when subjected to heat treatment for sterilization of the contents.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3. Unfavorable reactions between acid and oil content of the food and the packaging material.</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latin typeface="Times New Roman"/>
                <a:ea typeface="Times New Roman"/>
                <a:cs typeface="Times New Roman"/>
                <a:sym typeface="Times New Roman"/>
              </a:rPr>
              <a:t>FOOD LAWS AND STANDARDS: </a:t>
            </a:r>
            <a:r>
              <a:rPr b="1" i="1" lang="en-US" u="sng">
                <a:latin typeface="Times New Roman"/>
                <a:ea typeface="Times New Roman"/>
                <a:cs typeface="Times New Roman"/>
                <a:sym typeface="Times New Roman"/>
              </a:rPr>
              <a:t>Prevention of Food Adulteration Act 1954</a:t>
            </a:r>
            <a:endParaRPr b="1" i="1" u="sng">
              <a:latin typeface="Times New Roman"/>
              <a:ea typeface="Times New Roman"/>
              <a:cs typeface="Times New Roman"/>
              <a:sym typeface="Times New Roman"/>
            </a:endParaRPr>
          </a:p>
        </p:txBody>
      </p:sp>
      <p:sp>
        <p:nvSpPr>
          <p:cNvPr id="125" name="Google Shape;125;p20"/>
          <p:cNvSpPr txBox="1"/>
          <p:nvPr/>
        </p:nvSpPr>
        <p:spPr>
          <a:xfrm>
            <a:off x="227991" y="1857884"/>
            <a:ext cx="11713800" cy="4833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800" u="none" cap="none" strike="noStrike">
                <a:solidFill>
                  <a:schemeClr val="dk1"/>
                </a:solidFill>
                <a:latin typeface="Times New Roman"/>
                <a:ea typeface="Times New Roman"/>
                <a:cs typeface="Times New Roman"/>
                <a:sym typeface="Times New Roman"/>
              </a:rPr>
              <a:t>The prevention of Food Adulteration Act, (PFA) 1954 operated by the Directorate General of Health Services, Ministry of Health was designed for the following purposes :</a:t>
            </a:r>
            <a:endParaRPr>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1. It formulates and monitors the standard of quality and purity of foods with emphasis on prevention of adulteration of foods.</a:t>
            </a:r>
            <a:endParaRPr>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2. It is the basic structure intended to protect the common consumer against the supply of adulterated foods.</a:t>
            </a:r>
            <a:endParaRPr>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3. It makes provision for prevention of adulteration of food and lays down the rule that no person shall manufacture for sale, store, sell or distribute any adulterated or misbranded food or food which contravenes the provision of act or rules.</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idx="1" type="body"/>
          </p:nvPr>
        </p:nvSpPr>
        <p:spPr>
          <a:xfrm>
            <a:off x="760727" y="462261"/>
            <a:ext cx="10515600" cy="5933477"/>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None/>
            </a:pPr>
            <a:r>
              <a:rPr lang="en-US">
                <a:latin typeface="Times New Roman"/>
                <a:ea typeface="Times New Roman"/>
                <a:cs typeface="Times New Roman"/>
                <a:sym typeface="Times New Roman"/>
              </a:rPr>
              <a:t>According to this act, a food is deemed to be adulterated – if:</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It is not of the nature, substance and quality, which the food ought to be.</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It contains any other substance which affects, or if the article is so processed so as to affect injuriously the nature, substance and quality of the food.</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It contains added inferior or cheaper substance that affects the nature and quality of the food.</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Any constituent of the food is removed so as to affect injuriously the nature, quality and substance of the food.</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It is prepared, packed and stored under unsanitary conditions.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Times New Roman"/>
              <a:buChar char="•"/>
            </a:pPr>
            <a:r>
              <a:rPr lang="en-US">
                <a:latin typeface="Times New Roman"/>
                <a:ea typeface="Times New Roman"/>
                <a:cs typeface="Times New Roman"/>
                <a:sym typeface="Times New Roman"/>
              </a:rPr>
              <a:t>It contains any filthy, disgusting, rotten, decomposed substance of a diseased animal or vegetable substance or is insect-infested or otherwise unfit for human consumption.</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idx="1" type="body"/>
          </p:nvPr>
        </p:nvSpPr>
        <p:spPr>
          <a:xfrm>
            <a:off x="760727" y="1253331"/>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Font typeface="Times New Roman"/>
              <a:buChar char="•"/>
            </a:pPr>
            <a:r>
              <a:rPr lang="en-US" sz="3200">
                <a:latin typeface="Times New Roman"/>
                <a:ea typeface="Times New Roman"/>
                <a:cs typeface="Times New Roman"/>
                <a:sym typeface="Times New Roman"/>
              </a:rPr>
              <a:t>The article is obtained from a diseased animal.</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200"/>
              <a:buFont typeface="Times New Roman"/>
              <a:buChar char="•"/>
            </a:pPr>
            <a:r>
              <a:rPr lang="en-US" sz="3200">
                <a:latin typeface="Times New Roman"/>
                <a:ea typeface="Times New Roman"/>
                <a:cs typeface="Times New Roman"/>
                <a:sym typeface="Times New Roman"/>
              </a:rPr>
              <a:t>The article contains a poisonous ingredient or any other ingredient injurious to health.</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200"/>
              <a:buFont typeface="Times New Roman"/>
              <a:buChar char="•"/>
            </a:pPr>
            <a:r>
              <a:rPr lang="en-US" sz="3200">
                <a:latin typeface="Times New Roman"/>
                <a:ea typeface="Times New Roman"/>
                <a:cs typeface="Times New Roman"/>
                <a:sym typeface="Times New Roman"/>
              </a:rPr>
              <a:t>The container renders the food injurious to health.</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200"/>
              <a:buFont typeface="Times New Roman"/>
              <a:buChar char="•"/>
            </a:pPr>
            <a:r>
              <a:rPr lang="en-US" sz="3200">
                <a:latin typeface="Times New Roman"/>
                <a:ea typeface="Times New Roman"/>
                <a:cs typeface="Times New Roman"/>
                <a:sym typeface="Times New Roman"/>
              </a:rPr>
              <a:t>It contains excessive or prohibited colours.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200"/>
              <a:buFont typeface="Times New Roman"/>
              <a:buChar char="•"/>
            </a:pPr>
            <a:r>
              <a:rPr lang="en-US" sz="3200">
                <a:latin typeface="Times New Roman"/>
                <a:ea typeface="Times New Roman"/>
                <a:cs typeface="Times New Roman"/>
                <a:sym typeface="Times New Roman"/>
              </a:rPr>
              <a:t>It contains excessive or prohibited preservatives.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200"/>
              <a:buFont typeface="Times New Roman"/>
              <a:buChar char="•"/>
            </a:pPr>
            <a:r>
              <a:rPr lang="en-US" sz="3200">
                <a:latin typeface="Times New Roman"/>
                <a:ea typeface="Times New Roman"/>
                <a:cs typeface="Times New Roman"/>
                <a:sym typeface="Times New Roman"/>
              </a:rPr>
              <a:t>It does not satisfy the standards prescribed by the authorities.</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idx="1" type="body"/>
          </p:nvPr>
        </p:nvSpPr>
        <p:spPr>
          <a:xfrm>
            <a:off x="484039" y="268958"/>
            <a:ext cx="11391430" cy="632008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Font typeface="Times New Roman"/>
              <a:buChar char="•"/>
            </a:pPr>
            <a:r>
              <a:rPr b="1" lang="en-US" sz="2400">
                <a:latin typeface="Times New Roman"/>
                <a:ea typeface="Times New Roman"/>
                <a:cs typeface="Times New Roman"/>
                <a:sym typeface="Times New Roman"/>
              </a:rPr>
              <a:t>Agmark Standard:</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The word Agmark is derived from the words ‘ Agricultural Marketing’ . It is a standard of quality based on the physical and chemical characteristics of food, both the natural and those acquired during processing.</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Products graded under AGMARK include vegetable oils, ghee, butter, rice, groundnut, pulses and spices. These standards ensure accurate weight and correct selling price.</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Times New Roman"/>
              <a:buChar char="•"/>
            </a:pPr>
            <a:r>
              <a:rPr b="1" lang="en-US" sz="2400">
                <a:latin typeface="Times New Roman"/>
                <a:ea typeface="Times New Roman"/>
                <a:cs typeface="Times New Roman"/>
                <a:sym typeface="Times New Roman"/>
              </a:rPr>
              <a:t>Bureau of Indian Standards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The Bureau of Indian Standards lays down criteria for standardization of vegetables and fruit products, spices and condiments, animal products and processed food. Manufacturers are allowed to use the BIS label on each unit of their product, if their products conform with the standards laid down by BIS. The products are checked for quality by laboratories certified by BIS. BIS is also known as ISI (Indian Standard Institution).</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Some of the items which require compulsory BIS certification under PFA Act include artificial food colours, natural food colours, food additives, infant formula, milk-cereal based weaning foods, milk powder and condensed milk.</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4"/>
          <p:cNvPicPr preferRelativeResize="0"/>
          <p:nvPr/>
        </p:nvPicPr>
        <p:blipFill>
          <a:blip r:embed="rId3">
            <a:alphaModFix/>
          </a:blip>
          <a:stretch>
            <a:fillRect/>
          </a:stretch>
        </p:blipFill>
        <p:spPr>
          <a:xfrm>
            <a:off x="505500" y="600550"/>
            <a:ext cx="5429051" cy="5388726"/>
          </a:xfrm>
          <a:prstGeom prst="rect">
            <a:avLst/>
          </a:prstGeom>
          <a:noFill/>
          <a:ln>
            <a:noFill/>
          </a:ln>
        </p:spPr>
      </p:pic>
      <p:pic>
        <p:nvPicPr>
          <p:cNvPr id="146" name="Google Shape;146;p24"/>
          <p:cNvPicPr preferRelativeResize="0"/>
          <p:nvPr/>
        </p:nvPicPr>
        <p:blipFill>
          <a:blip r:embed="rId4">
            <a:alphaModFix/>
          </a:blip>
          <a:stretch>
            <a:fillRect/>
          </a:stretch>
        </p:blipFill>
        <p:spPr>
          <a:xfrm>
            <a:off x="6581125" y="600550"/>
            <a:ext cx="5252525" cy="5388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FOOD CONTAMINANTS</a:t>
            </a:r>
            <a:endParaRPr/>
          </a:p>
        </p:txBody>
      </p:sp>
      <p:sp>
        <p:nvSpPr>
          <p:cNvPr id="152" name="Google Shape;152;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Food contaminants are unwanted substances that enter food during production, processing, packaging, storage, or transportation, making the food unsafe or harmful to consume.</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409731" y="232349"/>
            <a:ext cx="10515600" cy="7591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Types of Food Contaminants</a:t>
            </a:r>
            <a:endParaRPr>
              <a:latin typeface="Times New Roman"/>
              <a:ea typeface="Times New Roman"/>
              <a:cs typeface="Times New Roman"/>
              <a:sym typeface="Times New Roman"/>
            </a:endParaRPr>
          </a:p>
        </p:txBody>
      </p:sp>
      <p:sp>
        <p:nvSpPr>
          <p:cNvPr id="158" name="Google Shape;158;p26"/>
          <p:cNvSpPr txBox="1"/>
          <p:nvPr>
            <p:ph idx="1" type="body"/>
          </p:nvPr>
        </p:nvSpPr>
        <p:spPr>
          <a:xfrm>
            <a:off x="838199" y="991486"/>
            <a:ext cx="10944069" cy="563416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Times New Roman"/>
                <a:ea typeface="Times New Roman"/>
                <a:cs typeface="Times New Roman"/>
                <a:sym typeface="Times New Roman"/>
              </a:rPr>
              <a:t>Biological Contaminants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Examples:</a:t>
            </a:r>
            <a:r>
              <a:rPr lang="en-US">
                <a:latin typeface="Times New Roman"/>
                <a:ea typeface="Times New Roman"/>
                <a:cs typeface="Times New Roman"/>
                <a:sym typeface="Times New Roman"/>
              </a:rPr>
              <a:t> Bacteria (Salmonella, E. coli), viruses (Norovirus), parasites (Giardia), fungi (molds).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Sources:</a:t>
            </a:r>
            <a:r>
              <a:rPr lang="en-US">
                <a:latin typeface="Times New Roman"/>
                <a:ea typeface="Times New Roman"/>
                <a:cs typeface="Times New Roman"/>
                <a:sym typeface="Times New Roman"/>
              </a:rPr>
              <a:t> Improper hygiene, contaminated water, undercooked food.</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Effects:</a:t>
            </a:r>
            <a:r>
              <a:rPr lang="en-US">
                <a:latin typeface="Times New Roman"/>
                <a:ea typeface="Times New Roman"/>
                <a:cs typeface="Times New Roman"/>
                <a:sym typeface="Times New Roman"/>
              </a:rPr>
              <a:t> Foodborne illnesses, diarrhea, vomiting, infections.</a:t>
            </a:r>
            <a:endParaRPr/>
          </a:p>
          <a:p>
            <a:pPr indent="0" lvl="0" marL="0" rtl="0" algn="l">
              <a:lnSpc>
                <a:spcPct val="90000"/>
              </a:lnSpc>
              <a:spcBef>
                <a:spcPts val="1000"/>
              </a:spcBef>
              <a:spcAft>
                <a:spcPts val="0"/>
              </a:spcAft>
              <a:buClr>
                <a:schemeClr val="dk1"/>
              </a:buClr>
              <a:buSzPts val="2800"/>
              <a:buNone/>
            </a:pPr>
            <a:r>
              <a:rPr b="1" lang="en-US">
                <a:latin typeface="Times New Roman"/>
                <a:ea typeface="Times New Roman"/>
                <a:cs typeface="Times New Roman"/>
                <a:sym typeface="Times New Roman"/>
              </a:rPr>
              <a:t> Chemical Contaminants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Examples:</a:t>
            </a:r>
            <a:endParaRPr>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Pesticide residues</a:t>
            </a:r>
            <a:r>
              <a:rPr lang="en-US">
                <a:latin typeface="Times New Roman"/>
                <a:ea typeface="Times New Roman"/>
                <a:cs typeface="Times New Roman"/>
                <a:sym typeface="Times New Roman"/>
              </a:rPr>
              <a:t> (used in agriculture)</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Heavy metals</a:t>
            </a:r>
            <a:r>
              <a:rPr lang="en-US">
                <a:latin typeface="Times New Roman"/>
                <a:ea typeface="Times New Roman"/>
                <a:cs typeface="Times New Roman"/>
                <a:sym typeface="Times New Roman"/>
              </a:rPr>
              <a:t> (lead, mercury, cadmium)</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Food additives</a:t>
            </a:r>
            <a:r>
              <a:rPr lang="en-US">
                <a:latin typeface="Times New Roman"/>
                <a:ea typeface="Times New Roman"/>
                <a:cs typeface="Times New Roman"/>
                <a:sym typeface="Times New Roman"/>
              </a:rPr>
              <a:t> (unregulated or excessive use)</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Industrial chemicals</a:t>
            </a:r>
            <a:r>
              <a:rPr lang="en-US">
                <a:latin typeface="Times New Roman"/>
                <a:ea typeface="Times New Roman"/>
                <a:cs typeface="Times New Roman"/>
                <a:sym typeface="Times New Roman"/>
              </a:rPr>
              <a:t> (dioxins, PCBs)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Sources:</a:t>
            </a:r>
            <a:r>
              <a:rPr lang="en-US">
                <a:latin typeface="Times New Roman"/>
                <a:ea typeface="Times New Roman"/>
                <a:cs typeface="Times New Roman"/>
                <a:sym typeface="Times New Roman"/>
              </a:rPr>
              <a:t> Agricultural practices, environmental pollution, improper packaging.</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Effects:</a:t>
            </a:r>
            <a:r>
              <a:rPr lang="en-US">
                <a:latin typeface="Times New Roman"/>
                <a:ea typeface="Times New Roman"/>
                <a:cs typeface="Times New Roman"/>
                <a:sym typeface="Times New Roman"/>
              </a:rPr>
              <a:t> Cancer risk, hormonal disruption, kidney/liver damage</a:t>
            </a:r>
            <a:r>
              <a:rPr lang="en-US"/>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idx="1" type="body"/>
          </p:nvPr>
        </p:nvSpPr>
        <p:spPr>
          <a:xfrm>
            <a:off x="838200" y="1034321"/>
            <a:ext cx="10515600" cy="51426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Physical Contaminants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Examples:</a:t>
            </a:r>
            <a:r>
              <a:rPr lang="en-US">
                <a:latin typeface="Times New Roman"/>
                <a:ea typeface="Times New Roman"/>
                <a:cs typeface="Times New Roman"/>
                <a:sym typeface="Times New Roman"/>
              </a:rPr>
              <a:t> Hair, glass pieces, metal shards, plastic fragments.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Sources:</a:t>
            </a:r>
            <a:r>
              <a:rPr lang="en-US">
                <a:latin typeface="Times New Roman"/>
                <a:ea typeface="Times New Roman"/>
                <a:cs typeface="Times New Roman"/>
                <a:sym typeface="Times New Roman"/>
              </a:rPr>
              <a:t> Poor handling during processing/packaging.</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Effects:</a:t>
            </a:r>
            <a:r>
              <a:rPr lang="en-US">
                <a:latin typeface="Times New Roman"/>
                <a:ea typeface="Times New Roman"/>
                <a:cs typeface="Times New Roman"/>
                <a:sym typeface="Times New Roman"/>
              </a:rPr>
              <a:t> Injuries, choking hazards, consumer distrust.</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Allergenic Contaminants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Examples:</a:t>
            </a:r>
            <a:r>
              <a:rPr lang="en-US">
                <a:latin typeface="Times New Roman"/>
                <a:ea typeface="Times New Roman"/>
                <a:cs typeface="Times New Roman"/>
                <a:sym typeface="Times New Roman"/>
              </a:rPr>
              <a:t> Traces of nuts, milk, gluten in allergen-free food.</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Sources:</a:t>
            </a:r>
            <a:r>
              <a:rPr lang="en-US">
                <a:latin typeface="Times New Roman"/>
                <a:ea typeface="Times New Roman"/>
                <a:cs typeface="Times New Roman"/>
                <a:sym typeface="Times New Roman"/>
              </a:rPr>
              <a:t> Cross-contamination in factories.</a:t>
            </a:r>
            <a:endParaRPr/>
          </a:p>
          <a:p>
            <a:pPr indent="0" lvl="1" marL="457200" rtl="0" algn="l">
              <a:lnSpc>
                <a:spcPct val="90000"/>
              </a:lnSpc>
              <a:spcBef>
                <a:spcPts val="500"/>
              </a:spcBef>
              <a:spcAft>
                <a:spcPts val="0"/>
              </a:spcAft>
              <a:buClr>
                <a:schemeClr val="dk1"/>
              </a:buClr>
              <a:buSzPts val="2400"/>
              <a:buNone/>
            </a:pPr>
            <a:r>
              <a:rPr b="1" lang="en-US">
                <a:latin typeface="Times New Roman"/>
                <a:ea typeface="Times New Roman"/>
                <a:cs typeface="Times New Roman"/>
                <a:sym typeface="Times New Roman"/>
              </a:rPr>
              <a:t>Effects:</a:t>
            </a:r>
            <a:r>
              <a:rPr lang="en-US">
                <a:latin typeface="Times New Roman"/>
                <a:ea typeface="Times New Roman"/>
                <a:cs typeface="Times New Roman"/>
                <a:sym typeface="Times New Roman"/>
              </a:rPr>
              <a:t> Severe allergic reactions (anaphylaxis).</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Common Food Contaminants in India</a:t>
            </a:r>
            <a:endParaRPr>
              <a:latin typeface="Times New Roman"/>
              <a:ea typeface="Times New Roman"/>
              <a:cs typeface="Times New Roman"/>
              <a:sym typeface="Times New Roman"/>
            </a:endParaRPr>
          </a:p>
        </p:txBody>
      </p:sp>
      <p:sp>
        <p:nvSpPr>
          <p:cNvPr id="169" name="Google Shape;16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Adulterants</a:t>
            </a:r>
            <a:r>
              <a:rPr lang="en-US">
                <a:latin typeface="Times New Roman"/>
                <a:ea typeface="Times New Roman"/>
                <a:cs typeface="Times New Roman"/>
                <a:sym typeface="Times New Roman"/>
              </a:rPr>
              <a:t>: Urea in milk, chalk powder in flour, detergent in paneer.</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Pesticides</a:t>
            </a:r>
            <a:r>
              <a:rPr lang="en-US">
                <a:latin typeface="Times New Roman"/>
                <a:ea typeface="Times New Roman"/>
                <a:cs typeface="Times New Roman"/>
                <a:sym typeface="Times New Roman"/>
              </a:rPr>
              <a:t>: Found in fruits, vegetables, especially green leafy ones.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Coloring agents</a:t>
            </a:r>
            <a:r>
              <a:rPr lang="en-US">
                <a:latin typeface="Times New Roman"/>
                <a:ea typeface="Times New Roman"/>
                <a:cs typeface="Times New Roman"/>
                <a:sym typeface="Times New Roman"/>
              </a:rPr>
              <a:t>: Non-permitted dyes in sweets and snacks.</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Prevention and Control</a:t>
            </a:r>
            <a:endParaRPr b="1"/>
          </a:p>
        </p:txBody>
      </p:sp>
      <p:sp>
        <p:nvSpPr>
          <p:cNvPr id="175" name="Google Shape;175;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Washing &amp; peeling</a:t>
            </a:r>
            <a:r>
              <a:rPr lang="en-US">
                <a:latin typeface="Times New Roman"/>
                <a:ea typeface="Times New Roman"/>
                <a:cs typeface="Times New Roman"/>
                <a:sym typeface="Times New Roman"/>
              </a:rPr>
              <a:t> fruits/vegetables thoroughly.</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Cooking food</a:t>
            </a:r>
            <a:r>
              <a:rPr lang="en-US">
                <a:latin typeface="Times New Roman"/>
                <a:ea typeface="Times New Roman"/>
                <a:cs typeface="Times New Roman"/>
                <a:sym typeface="Times New Roman"/>
              </a:rPr>
              <a:t> at safe temperatures.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Avoiding open/street food</a:t>
            </a:r>
            <a:r>
              <a:rPr lang="en-US">
                <a:latin typeface="Times New Roman"/>
                <a:ea typeface="Times New Roman"/>
                <a:cs typeface="Times New Roman"/>
                <a:sym typeface="Times New Roman"/>
              </a:rPr>
              <a:t> in unhygienic conditions.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Checking FSSAI labels</a:t>
            </a:r>
            <a:r>
              <a:rPr lang="en-US">
                <a:latin typeface="Times New Roman"/>
                <a:ea typeface="Times New Roman"/>
                <a:cs typeface="Times New Roman"/>
                <a:sym typeface="Times New Roman"/>
              </a:rPr>
              <a:t> on packaged foods.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Proper food storage</a:t>
            </a:r>
            <a:r>
              <a:rPr lang="en-US">
                <a:latin typeface="Times New Roman"/>
                <a:ea typeface="Times New Roman"/>
                <a:cs typeface="Times New Roman"/>
                <a:sym typeface="Times New Roman"/>
              </a:rPr>
              <a:t> – cool, dry, and covered areas.</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FOOD ADDITIVES</a:t>
            </a:r>
            <a:endParaRPr/>
          </a:p>
        </p:txBody>
      </p:sp>
      <p:sp>
        <p:nvSpPr>
          <p:cNvPr id="181" name="Google Shape;181;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Food additives</a:t>
            </a:r>
            <a:r>
              <a:rPr lang="en-US">
                <a:latin typeface="Times New Roman"/>
                <a:ea typeface="Times New Roman"/>
                <a:cs typeface="Times New Roman"/>
                <a:sym typeface="Times New Roman"/>
              </a:rPr>
              <a:t> are substances intentionally added to food to improve its flavor, appearance, texture, shelf-life, or nutritional value.</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838200" y="1071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Classification of Food Additives</a:t>
            </a:r>
            <a:br>
              <a:rPr b="1" lang="en-US">
                <a:latin typeface="Times New Roman"/>
                <a:ea typeface="Times New Roman"/>
                <a:cs typeface="Times New Roman"/>
                <a:sym typeface="Times New Roman"/>
              </a:rPr>
            </a:br>
            <a:r>
              <a:rPr b="1" lang="en-US" sz="2700">
                <a:latin typeface="Times New Roman"/>
                <a:ea typeface="Times New Roman"/>
                <a:cs typeface="Times New Roman"/>
                <a:sym typeface="Times New Roman"/>
              </a:rPr>
              <a:t>A. Based on Function</a:t>
            </a:r>
            <a:endParaRPr>
              <a:latin typeface="Times New Roman"/>
              <a:ea typeface="Times New Roman"/>
              <a:cs typeface="Times New Roman"/>
              <a:sym typeface="Times New Roman"/>
            </a:endParaRPr>
          </a:p>
        </p:txBody>
      </p:sp>
      <p:graphicFrame>
        <p:nvGraphicFramePr>
          <p:cNvPr id="187" name="Google Shape;187;p31"/>
          <p:cNvGraphicFramePr/>
          <p:nvPr/>
        </p:nvGraphicFramePr>
        <p:xfrm>
          <a:off x="838200" y="1432774"/>
          <a:ext cx="3000000" cy="3000000"/>
        </p:xfrm>
        <a:graphic>
          <a:graphicData uri="http://schemas.openxmlformats.org/drawingml/2006/table">
            <a:tbl>
              <a:tblPr>
                <a:noFill/>
                <a:tableStyleId>{BA132236-CB05-491A-ADC2-CE16D134633F}</a:tableStyleId>
              </a:tblPr>
              <a:tblGrid>
                <a:gridCol w="3505200"/>
                <a:gridCol w="3505200"/>
                <a:gridCol w="3505200"/>
              </a:tblGrid>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Type</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Purpose</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Examples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725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Preservatives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Prevent spoilage from microbes</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Sodium benzoate, potassium sorbate</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Coloring Agents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Improve or restore color</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Tartrazine (yellow), Caramel</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Flavor Enhancers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Improve taste or aroma</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Monosodium glutamate (MSG)</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725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Sweeteners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Add sweetness with/without calories</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Aspartame, saccharin, stevia</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725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Antioxidants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Prevent oxidation and rancidity</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BHA, BHT, Vitamin E (tocopherol)</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Emulsifiers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Stabilize mixtures (oil + water)</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Lecithin, mono/diglycerides</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Thickeners/Stabilizers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Improve texture or consistency</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Pectin, guar gum, carrageenan</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Acidity Regulators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Maintain pH balance</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Citric acid, acetic acid</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8900">
                <a:tc>
                  <a:txBody>
                    <a:bodyPr/>
                    <a:lstStyle/>
                    <a:p>
                      <a:pPr indent="0" lvl="0" marL="0" marR="0" rtl="0" algn="l">
                        <a:spcBef>
                          <a:spcPts val="0"/>
                        </a:spcBef>
                        <a:spcAft>
                          <a:spcPts val="0"/>
                        </a:spcAft>
                        <a:buClr>
                          <a:schemeClr val="dk1"/>
                        </a:buClr>
                        <a:buSzPts val="1800"/>
                        <a:buFont typeface="Times New Roman"/>
                        <a:buNone/>
                      </a:pPr>
                      <a:r>
                        <a:rPr b="1" lang="en-US" sz="2000" u="none" cap="none" strike="noStrike">
                          <a:latin typeface="Times New Roman"/>
                          <a:ea typeface="Times New Roman"/>
                          <a:cs typeface="Times New Roman"/>
                          <a:sym typeface="Times New Roman"/>
                        </a:rPr>
                        <a:t>Nutritional Additives</a:t>
                      </a:r>
                      <a:endParaRPr sz="20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Improve nutrition</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Times New Roman"/>
                        <a:buNone/>
                      </a:pPr>
                      <a:r>
                        <a:rPr lang="en-US" sz="2000" u="none" cap="none" strike="noStrike">
                          <a:latin typeface="Times New Roman"/>
                          <a:ea typeface="Times New Roman"/>
                          <a:cs typeface="Times New Roman"/>
                          <a:sym typeface="Times New Roman"/>
                        </a:rPr>
                        <a:t>Iron, iodine, Vitamin D</a:t>
                      </a:r>
                      <a:endParaRPr sz="16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3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32"/>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 name="Google Shape;194;p32"/>
          <p:cNvSpPr/>
          <p:nvPr/>
        </p:nvSpPr>
        <p:spPr>
          <a:xfrm flipH="1" rot="-2700000">
            <a:off x="891641" y="422146"/>
            <a:ext cx="645368" cy="645368"/>
          </a:xfrm>
          <a:prstGeom prst="rect">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32"/>
          <p:cNvSpPr/>
          <p:nvPr/>
        </p:nvSpPr>
        <p:spPr>
          <a:xfrm flipH="1" rot="-2700000">
            <a:off x="10043482" y="655140"/>
            <a:ext cx="687472" cy="687472"/>
          </a:xfrm>
          <a:prstGeom prst="rect">
            <a:avLst/>
          </a:prstGeom>
          <a:solidFill>
            <a:schemeClr val="accent4">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32"/>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32"/>
          <p:cNvSpPr/>
          <p:nvPr/>
        </p:nvSpPr>
        <p:spPr>
          <a:xfrm flipH="1">
            <a:off x="7976344" y="6115501"/>
            <a:ext cx="1494513" cy="742499"/>
          </a:xfrm>
          <a:prstGeom prst="triangle">
            <a:avLst>
              <a:gd fmla="val 50000" name="adj"/>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 name="Google Shape;198;p32"/>
          <p:cNvSpPr/>
          <p:nvPr/>
        </p:nvSpPr>
        <p:spPr>
          <a:xfrm flipH="1">
            <a:off x="7604080" y="6453143"/>
            <a:ext cx="814903" cy="404857"/>
          </a:xfrm>
          <a:prstGeom prst="triangle">
            <a:avLst>
              <a:gd fmla="val 50000" name="adj"/>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99" name="Google Shape;199;p32"/>
          <p:cNvGraphicFramePr/>
          <p:nvPr/>
        </p:nvGraphicFramePr>
        <p:xfrm>
          <a:off x="1315932" y="1819655"/>
          <a:ext cx="3000000" cy="3000000"/>
        </p:xfrm>
        <a:graphic>
          <a:graphicData uri="http://schemas.openxmlformats.org/drawingml/2006/table">
            <a:tbl>
              <a:tblPr>
                <a:noFill/>
                <a:tableStyleId>{AA1C1D2C-FE6A-415E-B07B-84EDA8A8B4CF}</a:tableStyleId>
              </a:tblPr>
              <a:tblGrid>
                <a:gridCol w="4628725"/>
                <a:gridCol w="4931400"/>
              </a:tblGrid>
              <a:tr h="737625">
                <a:tc>
                  <a:txBody>
                    <a:bodyPr/>
                    <a:lstStyle/>
                    <a:p>
                      <a:pPr indent="0" lvl="0" marL="0" marR="0" rtl="0" algn="l">
                        <a:spcBef>
                          <a:spcPts val="0"/>
                        </a:spcBef>
                        <a:spcAft>
                          <a:spcPts val="0"/>
                        </a:spcAft>
                        <a:buClr>
                          <a:schemeClr val="dk1"/>
                        </a:buClr>
                        <a:buSzPts val="3300"/>
                        <a:buFont typeface="Arial"/>
                        <a:buNone/>
                      </a:pPr>
                      <a:r>
                        <a:rPr b="1" lang="en-US" sz="3300" u="none" cap="none" strike="noStrike">
                          <a:latin typeface="Times New Roman"/>
                          <a:ea typeface="Times New Roman"/>
                          <a:cs typeface="Times New Roman"/>
                          <a:sym typeface="Times New Roman"/>
                        </a:rPr>
                        <a:t>Natural Additives</a:t>
                      </a:r>
                      <a:endParaRPr sz="3300" u="none" cap="none" strike="noStrike">
                        <a:latin typeface="Times New Roman"/>
                        <a:ea typeface="Times New Roman"/>
                        <a:cs typeface="Times New Roman"/>
                        <a:sym typeface="Times New Roman"/>
                      </a:endParaRPr>
                    </a:p>
                  </a:txBody>
                  <a:tcPr marT="83825" marB="83825" marR="167650" marL="167650" anchor="ctr"/>
                </a:tc>
                <a:tc>
                  <a:txBody>
                    <a:bodyPr/>
                    <a:lstStyle/>
                    <a:p>
                      <a:pPr indent="0" lvl="0" marL="0" marR="0" rtl="0" algn="l">
                        <a:spcBef>
                          <a:spcPts val="0"/>
                        </a:spcBef>
                        <a:spcAft>
                          <a:spcPts val="0"/>
                        </a:spcAft>
                        <a:buClr>
                          <a:schemeClr val="dk1"/>
                        </a:buClr>
                        <a:buSzPts val="3300"/>
                        <a:buFont typeface="Arial"/>
                        <a:buNone/>
                      </a:pPr>
                      <a:r>
                        <a:rPr b="1" lang="en-US" sz="3300" u="none" cap="none" strike="noStrike">
                          <a:latin typeface="Times New Roman"/>
                          <a:ea typeface="Times New Roman"/>
                          <a:cs typeface="Times New Roman"/>
                          <a:sym typeface="Times New Roman"/>
                        </a:rPr>
                        <a:t>Synthetic Additives</a:t>
                      </a:r>
                      <a:endParaRPr sz="3300" u="none" cap="none" strike="noStrike">
                        <a:latin typeface="Times New Roman"/>
                        <a:ea typeface="Times New Roman"/>
                        <a:cs typeface="Times New Roman"/>
                        <a:sym typeface="Times New Roman"/>
                      </a:endParaRPr>
                    </a:p>
                  </a:txBody>
                  <a:tcPr marT="83825" marB="83825" marR="167650" marL="167650" anchor="ctr"/>
                </a:tc>
              </a:tr>
              <a:tr h="1240525">
                <a:tc>
                  <a:txBody>
                    <a:bodyPr/>
                    <a:lstStyle/>
                    <a:p>
                      <a:pPr indent="0" lvl="0" marL="0" marR="0" rtl="0" algn="l">
                        <a:spcBef>
                          <a:spcPts val="0"/>
                        </a:spcBef>
                        <a:spcAft>
                          <a:spcPts val="0"/>
                        </a:spcAft>
                        <a:buClr>
                          <a:schemeClr val="dk1"/>
                        </a:buClr>
                        <a:buSzPts val="3300"/>
                        <a:buFont typeface="Arial"/>
                        <a:buNone/>
                      </a:pPr>
                      <a:r>
                        <a:rPr lang="en-US" sz="3300" u="none" cap="none" strike="noStrike">
                          <a:latin typeface="Times New Roman"/>
                          <a:ea typeface="Times New Roman"/>
                          <a:cs typeface="Times New Roman"/>
                          <a:sym typeface="Times New Roman"/>
                        </a:rPr>
                        <a:t>Obtained from natural sources</a:t>
                      </a:r>
                      <a:endParaRPr>
                        <a:latin typeface="Times New Roman"/>
                        <a:ea typeface="Times New Roman"/>
                        <a:cs typeface="Times New Roman"/>
                        <a:sym typeface="Times New Roman"/>
                      </a:endParaRPr>
                    </a:p>
                  </a:txBody>
                  <a:tcPr marT="83825" marB="83825" marR="167650" marL="167650" anchor="ctr"/>
                </a:tc>
                <a:tc>
                  <a:txBody>
                    <a:bodyPr/>
                    <a:lstStyle/>
                    <a:p>
                      <a:pPr indent="0" lvl="0" marL="0" marR="0" rtl="0" algn="l">
                        <a:spcBef>
                          <a:spcPts val="0"/>
                        </a:spcBef>
                        <a:spcAft>
                          <a:spcPts val="0"/>
                        </a:spcAft>
                        <a:buClr>
                          <a:schemeClr val="dk1"/>
                        </a:buClr>
                        <a:buSzPts val="3300"/>
                        <a:buFont typeface="Arial"/>
                        <a:buNone/>
                      </a:pPr>
                      <a:r>
                        <a:rPr lang="en-US" sz="3300" u="none" cap="none" strike="noStrike">
                          <a:latin typeface="Times New Roman"/>
                          <a:ea typeface="Times New Roman"/>
                          <a:cs typeface="Times New Roman"/>
                          <a:sym typeface="Times New Roman"/>
                        </a:rPr>
                        <a:t>Made through chemical processes</a:t>
                      </a:r>
                      <a:endParaRPr>
                        <a:latin typeface="Times New Roman"/>
                        <a:ea typeface="Times New Roman"/>
                        <a:cs typeface="Times New Roman"/>
                        <a:sym typeface="Times New Roman"/>
                      </a:endParaRPr>
                    </a:p>
                  </a:txBody>
                  <a:tcPr marT="83825" marB="83825" marR="167650" marL="167650" anchor="ctr"/>
                </a:tc>
              </a:tr>
              <a:tr h="1240525">
                <a:tc>
                  <a:txBody>
                    <a:bodyPr/>
                    <a:lstStyle/>
                    <a:p>
                      <a:pPr indent="0" lvl="0" marL="0" marR="0" rtl="0" algn="l">
                        <a:spcBef>
                          <a:spcPts val="0"/>
                        </a:spcBef>
                        <a:spcAft>
                          <a:spcPts val="0"/>
                        </a:spcAft>
                        <a:buClr>
                          <a:schemeClr val="dk1"/>
                        </a:buClr>
                        <a:buSzPts val="3300"/>
                        <a:buFont typeface="Arial"/>
                        <a:buNone/>
                      </a:pPr>
                      <a:r>
                        <a:rPr lang="en-US" sz="3300" u="none" cap="none" strike="noStrike">
                          <a:latin typeface="Times New Roman"/>
                          <a:ea typeface="Times New Roman"/>
                          <a:cs typeface="Times New Roman"/>
                          <a:sym typeface="Times New Roman"/>
                        </a:rPr>
                        <a:t>E.g., beetroot red, turmeric</a:t>
                      </a:r>
                      <a:endParaRPr>
                        <a:latin typeface="Times New Roman"/>
                        <a:ea typeface="Times New Roman"/>
                        <a:cs typeface="Times New Roman"/>
                        <a:sym typeface="Times New Roman"/>
                      </a:endParaRPr>
                    </a:p>
                  </a:txBody>
                  <a:tcPr marT="83825" marB="83825" marR="167650" marL="167650" anchor="ctr"/>
                </a:tc>
                <a:tc>
                  <a:txBody>
                    <a:bodyPr/>
                    <a:lstStyle/>
                    <a:p>
                      <a:pPr indent="0" lvl="0" marL="0" marR="0" rtl="0" algn="l">
                        <a:spcBef>
                          <a:spcPts val="0"/>
                        </a:spcBef>
                        <a:spcAft>
                          <a:spcPts val="0"/>
                        </a:spcAft>
                        <a:buClr>
                          <a:schemeClr val="dk1"/>
                        </a:buClr>
                        <a:buSzPts val="3300"/>
                        <a:buFont typeface="Arial"/>
                        <a:buNone/>
                      </a:pPr>
                      <a:r>
                        <a:rPr lang="en-US" sz="3300" u="none" cap="none" strike="noStrike">
                          <a:latin typeface="Times New Roman"/>
                          <a:ea typeface="Times New Roman"/>
                          <a:cs typeface="Times New Roman"/>
                          <a:sym typeface="Times New Roman"/>
                        </a:rPr>
                        <a:t>E.g., tartrazine, benzoates</a:t>
                      </a:r>
                      <a:endParaRPr>
                        <a:latin typeface="Times New Roman"/>
                        <a:ea typeface="Times New Roman"/>
                        <a:cs typeface="Times New Roman"/>
                        <a:sym typeface="Times New Roman"/>
                      </a:endParaRPr>
                    </a:p>
                  </a:txBody>
                  <a:tcPr marT="83825" marB="83825" marR="167650" marL="167650" anchor="ct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Benefits of Food Additives</a:t>
            </a:r>
            <a:endParaRPr>
              <a:latin typeface="Times New Roman"/>
              <a:ea typeface="Times New Roman"/>
              <a:cs typeface="Times New Roman"/>
              <a:sym typeface="Times New Roman"/>
            </a:endParaRPr>
          </a:p>
        </p:txBody>
      </p:sp>
      <p:sp>
        <p:nvSpPr>
          <p:cNvPr id="205" name="Google Shape;205;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Prolong shelf life.</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Improve food appearance and palatability.</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Help in food processing (e.g., anti-caking agents).</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Fortify food with essential nutrients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Health Concerns</a:t>
            </a:r>
            <a:endParaRPr>
              <a:latin typeface="Times New Roman"/>
              <a:ea typeface="Times New Roman"/>
              <a:cs typeface="Times New Roman"/>
              <a:sym typeface="Times New Roman"/>
            </a:endParaRPr>
          </a:p>
        </p:txBody>
      </p:sp>
      <p:sp>
        <p:nvSpPr>
          <p:cNvPr id="211" name="Google Shape;211;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Allergies:</a:t>
            </a:r>
            <a:r>
              <a:rPr lang="en-US">
                <a:latin typeface="Times New Roman"/>
                <a:ea typeface="Times New Roman"/>
                <a:cs typeface="Times New Roman"/>
                <a:sym typeface="Times New Roman"/>
              </a:rPr>
              <a:t> Some additives (like sulfites) may cause allergic reactions.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Hyperactivity:</a:t>
            </a:r>
            <a:r>
              <a:rPr lang="en-US">
                <a:latin typeface="Times New Roman"/>
                <a:ea typeface="Times New Roman"/>
                <a:cs typeface="Times New Roman"/>
                <a:sym typeface="Times New Roman"/>
              </a:rPr>
              <a:t> Linked to artificial colors in children (controversial).</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Long-term risks:</a:t>
            </a:r>
            <a:r>
              <a:rPr lang="en-US">
                <a:latin typeface="Times New Roman"/>
                <a:ea typeface="Times New Roman"/>
                <a:cs typeface="Times New Roman"/>
                <a:sym typeface="Times New Roman"/>
              </a:rPr>
              <a:t> Excessive use of synthetic additives may lead to health issues (e.g., cancer risk, metabolic disturbance).</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Common Additives in Indian Foods</a:t>
            </a:r>
            <a:endParaRPr/>
          </a:p>
        </p:txBody>
      </p:sp>
      <p:sp>
        <p:nvSpPr>
          <p:cNvPr id="217" name="Google Shape;217;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Preservatives:</a:t>
            </a:r>
            <a:r>
              <a:rPr lang="en-US">
                <a:latin typeface="Times New Roman"/>
                <a:ea typeface="Times New Roman"/>
                <a:cs typeface="Times New Roman"/>
                <a:sym typeface="Times New Roman"/>
              </a:rPr>
              <a:t> Sodium benzoate in juices and jams.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Colours:</a:t>
            </a:r>
            <a:r>
              <a:rPr lang="en-US">
                <a:latin typeface="Times New Roman"/>
                <a:ea typeface="Times New Roman"/>
                <a:cs typeface="Times New Roman"/>
                <a:sym typeface="Times New Roman"/>
              </a:rPr>
              <a:t> Permitted dyes in sweets and snacks.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Sweeteners:</a:t>
            </a:r>
            <a:r>
              <a:rPr lang="en-US">
                <a:latin typeface="Times New Roman"/>
                <a:ea typeface="Times New Roman"/>
                <a:cs typeface="Times New Roman"/>
                <a:sym typeface="Times New Roman"/>
              </a:rPr>
              <a:t> Sucralose in diet drinks.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Fortification:</a:t>
            </a:r>
            <a:r>
              <a:rPr lang="en-US">
                <a:latin typeface="Times New Roman"/>
                <a:ea typeface="Times New Roman"/>
                <a:cs typeface="Times New Roman"/>
                <a:sym typeface="Times New Roman"/>
              </a:rPr>
              <a:t> Iron in atta, iodine in salt.</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NATURAL TOXINS</a:t>
            </a:r>
            <a:endParaRPr b="1"/>
          </a:p>
        </p:txBody>
      </p:sp>
      <p:sp>
        <p:nvSpPr>
          <p:cNvPr id="223" name="Google Shape;223;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Natural toxins are poisonous substances that occur naturally in certain foods. They are not added by humans but are produced by plants, animals, or microorganisms as defense mechanisms or due to environmental conditions.</a:t>
            </a: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3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37"/>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37"/>
          <p:cNvSpPr/>
          <p:nvPr/>
        </p:nvSpPr>
        <p:spPr>
          <a:xfrm flipH="1" rot="-2700000">
            <a:off x="891641" y="422146"/>
            <a:ext cx="645368" cy="645368"/>
          </a:xfrm>
          <a:prstGeom prst="rect">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37"/>
          <p:cNvSpPr/>
          <p:nvPr/>
        </p:nvSpPr>
        <p:spPr>
          <a:xfrm flipH="1" rot="-2700000">
            <a:off x="10043482" y="655140"/>
            <a:ext cx="687472" cy="687472"/>
          </a:xfrm>
          <a:prstGeom prst="rect">
            <a:avLst/>
          </a:prstGeom>
          <a:solidFill>
            <a:schemeClr val="accent4">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37"/>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37"/>
          <p:cNvSpPr/>
          <p:nvPr/>
        </p:nvSpPr>
        <p:spPr>
          <a:xfrm flipH="1">
            <a:off x="7976344" y="6115501"/>
            <a:ext cx="1494513" cy="742499"/>
          </a:xfrm>
          <a:prstGeom prst="triangle">
            <a:avLst>
              <a:gd fmla="val 50000" name="adj"/>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37"/>
          <p:cNvSpPr/>
          <p:nvPr/>
        </p:nvSpPr>
        <p:spPr>
          <a:xfrm flipH="1">
            <a:off x="7604080" y="6453143"/>
            <a:ext cx="814903" cy="404857"/>
          </a:xfrm>
          <a:prstGeom prst="triangle">
            <a:avLst>
              <a:gd fmla="val 50000" name="adj"/>
            </a:avLst>
          </a:prstGeom>
          <a:solidFill>
            <a:schemeClr val="accen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5" name="Google Shape;235;p37"/>
          <p:cNvGraphicFramePr/>
          <p:nvPr/>
        </p:nvGraphicFramePr>
        <p:xfrm>
          <a:off x="194872" y="368755"/>
          <a:ext cx="3000000" cy="3000000"/>
        </p:xfrm>
        <a:graphic>
          <a:graphicData uri="http://schemas.openxmlformats.org/drawingml/2006/table">
            <a:tbl>
              <a:tblPr>
                <a:noFill/>
                <a:tableStyleId>{BA132236-CB05-491A-ADC2-CE16D134633F}</a:tableStyleId>
              </a:tblPr>
              <a:tblGrid>
                <a:gridCol w="1565075"/>
                <a:gridCol w="3380850"/>
                <a:gridCol w="3436775"/>
                <a:gridCol w="3339600"/>
              </a:tblGrid>
              <a:tr h="441800">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Source</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Toxin</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Examples of Food</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Health Effects</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8950">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Plants</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Glycoalkaloids (solanine)</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Green potatoes, sprouted potatoes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Nausea, vomiting, nervous system issues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8950">
                <a:tc>
                  <a:txBody>
                    <a:bodyPr/>
                    <a:lstStyle/>
                    <a:p>
                      <a:pPr indent="0" lvl="0" marL="0" marR="0" rtl="0" algn="l">
                        <a:spcBef>
                          <a:spcPts val="0"/>
                        </a:spcBef>
                        <a:spcAft>
                          <a:spcPts val="0"/>
                        </a:spcAft>
                        <a:buClr>
                          <a:schemeClr val="dk1"/>
                        </a:buClr>
                        <a:buSzPts val="2400"/>
                        <a:buFont typeface="Arial"/>
                        <a:buNone/>
                      </a:pPr>
                      <a:r>
                        <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Cyanogenic glycosides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Bitter almonds, cassava, apple seeds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Release cyanide – can be fatal</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41800">
                <a:tc>
                  <a:txBody>
                    <a:bodyPr/>
                    <a:lstStyle/>
                    <a:p>
                      <a:pPr indent="0" lvl="0" marL="0" marR="0" rtl="0" algn="l">
                        <a:spcBef>
                          <a:spcPts val="0"/>
                        </a:spcBef>
                        <a:spcAft>
                          <a:spcPts val="0"/>
                        </a:spcAft>
                        <a:buClr>
                          <a:schemeClr val="dk1"/>
                        </a:buClr>
                        <a:buSzPts val="2400"/>
                        <a:buFont typeface="Arial"/>
                        <a:buNone/>
                      </a:pPr>
                      <a:r>
                        <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Lectins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Raw kidney beans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Nausea, vomiting, diarrhea</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8950">
                <a:tc>
                  <a:txBody>
                    <a:bodyPr/>
                    <a:lstStyle/>
                    <a:p>
                      <a:pPr indent="0" lvl="0" marL="0" marR="0" rtl="0" algn="l">
                        <a:spcBef>
                          <a:spcPts val="0"/>
                        </a:spcBef>
                        <a:spcAft>
                          <a:spcPts val="0"/>
                        </a:spcAft>
                        <a:buClr>
                          <a:schemeClr val="dk1"/>
                        </a:buClr>
                        <a:buSzPts val="2400"/>
                        <a:buFont typeface="Arial"/>
                        <a:buNone/>
                      </a:pPr>
                      <a:r>
                        <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Myristicin, safrole</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Nutmeg (excess), betel nut</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Hallucinations, liver toxicity</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8950">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Fungi</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Mycotoxins (aflatoxins)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Moldy grains, nuts, spices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Liver cancer, immune suppression</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8950">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Seafood</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Histamine, ciguatoxin</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Spoiled fish, reef fish (e.g., barracuda)</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Allergic-like reactions, neurotoxic effects</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41800">
                <a:tc>
                  <a:txBody>
                    <a:bodyPr/>
                    <a:lstStyle/>
                    <a:p>
                      <a:pPr indent="0" lvl="0" marL="0" marR="0" rtl="0" algn="l">
                        <a:spcBef>
                          <a:spcPts val="0"/>
                        </a:spcBef>
                        <a:spcAft>
                          <a:spcPts val="0"/>
                        </a:spcAft>
                        <a:buClr>
                          <a:schemeClr val="dk1"/>
                        </a:buClr>
                        <a:buSzPts val="2400"/>
                        <a:buFont typeface="Times New Roman"/>
                        <a:buNone/>
                      </a:pPr>
                      <a:r>
                        <a:rPr b="1" lang="en-US" sz="2400" u="none" cap="none" strike="noStrike">
                          <a:latin typeface="Times New Roman"/>
                          <a:ea typeface="Times New Roman"/>
                          <a:cs typeface="Times New Roman"/>
                          <a:sym typeface="Times New Roman"/>
                        </a:rPr>
                        <a:t>Animals</a:t>
                      </a:r>
                      <a:endParaRPr sz="2400" u="none" cap="none" strike="noStrike">
                        <a:latin typeface="Times New Roman"/>
                        <a:ea typeface="Times New Roman"/>
                        <a:cs typeface="Times New Roman"/>
                        <a:sym typeface="Times New Roman"/>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Tetrodotoxin</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Pufferfish (fugu)</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400"/>
                        <a:buFont typeface="Times New Roman"/>
                        <a:buNone/>
                      </a:pPr>
                      <a:r>
                        <a:rPr lang="en-US" sz="2400" u="none" cap="none" strike="noStrike">
                          <a:latin typeface="Times New Roman"/>
                          <a:ea typeface="Times New Roman"/>
                          <a:cs typeface="Times New Roman"/>
                          <a:sym typeface="Times New Roman"/>
                        </a:rPr>
                        <a:t>Paralysis, potentially fatal</a:t>
                      </a:r>
                      <a:endParaRPr/>
                    </a:p>
                  </a:txBody>
                  <a:tcPr marT="50025" marB="50025" marR="100050" marL="100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Factors Influencing Toxin Levels</a:t>
            </a:r>
            <a:endParaRPr>
              <a:latin typeface="Times New Roman"/>
              <a:ea typeface="Times New Roman"/>
              <a:cs typeface="Times New Roman"/>
              <a:sym typeface="Times New Roman"/>
            </a:endParaRPr>
          </a:p>
        </p:txBody>
      </p:sp>
      <p:sp>
        <p:nvSpPr>
          <p:cNvPr id="241" name="Google Shape;24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Improper storage (moisture → mold growth)</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Immature or sprouting crops</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Inadequate cooking</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Contaminated water or environment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39"/>
          <p:cNvPicPr preferRelativeResize="0"/>
          <p:nvPr/>
        </p:nvPicPr>
        <p:blipFill>
          <a:blip r:embed="rId3">
            <a:alphaModFix/>
          </a:blip>
          <a:stretch>
            <a:fillRect/>
          </a:stretch>
        </p:blipFill>
        <p:spPr>
          <a:xfrm>
            <a:off x="152400" y="152400"/>
            <a:ext cx="4587125" cy="3052525"/>
          </a:xfrm>
          <a:prstGeom prst="rect">
            <a:avLst/>
          </a:prstGeom>
          <a:noFill/>
          <a:ln>
            <a:noFill/>
          </a:ln>
        </p:spPr>
      </p:pic>
      <p:pic>
        <p:nvPicPr>
          <p:cNvPr id="247" name="Google Shape;247;p39"/>
          <p:cNvPicPr preferRelativeResize="0"/>
          <p:nvPr/>
        </p:nvPicPr>
        <p:blipFill>
          <a:blip r:embed="rId4">
            <a:alphaModFix/>
          </a:blip>
          <a:stretch>
            <a:fillRect/>
          </a:stretch>
        </p:blipFill>
        <p:spPr>
          <a:xfrm>
            <a:off x="4891925" y="152400"/>
            <a:ext cx="3975950" cy="3147600"/>
          </a:xfrm>
          <a:prstGeom prst="rect">
            <a:avLst/>
          </a:prstGeom>
          <a:noFill/>
          <a:ln>
            <a:noFill/>
          </a:ln>
        </p:spPr>
      </p:pic>
      <p:pic>
        <p:nvPicPr>
          <p:cNvPr id="248" name="Google Shape;248;p39"/>
          <p:cNvPicPr preferRelativeResize="0"/>
          <p:nvPr/>
        </p:nvPicPr>
        <p:blipFill>
          <a:blip r:embed="rId5">
            <a:alphaModFix/>
          </a:blip>
          <a:stretch>
            <a:fillRect/>
          </a:stretch>
        </p:blipFill>
        <p:spPr>
          <a:xfrm>
            <a:off x="152400" y="3452400"/>
            <a:ext cx="3772275" cy="2342775"/>
          </a:xfrm>
          <a:prstGeom prst="rect">
            <a:avLst/>
          </a:prstGeom>
          <a:noFill/>
          <a:ln>
            <a:noFill/>
          </a:ln>
        </p:spPr>
      </p:pic>
      <p:pic>
        <p:nvPicPr>
          <p:cNvPr id="249" name="Google Shape;249;p39"/>
          <p:cNvPicPr preferRelativeResize="0"/>
          <p:nvPr/>
        </p:nvPicPr>
        <p:blipFill>
          <a:blip r:embed="rId6">
            <a:alphaModFix/>
          </a:blip>
          <a:stretch>
            <a:fillRect/>
          </a:stretch>
        </p:blipFill>
        <p:spPr>
          <a:xfrm>
            <a:off x="4077075" y="3452400"/>
            <a:ext cx="3677225" cy="2660425"/>
          </a:xfrm>
          <a:prstGeom prst="rect">
            <a:avLst/>
          </a:prstGeom>
          <a:noFill/>
          <a:ln>
            <a:noFill/>
          </a:ln>
        </p:spPr>
      </p:pic>
      <p:pic>
        <p:nvPicPr>
          <p:cNvPr id="250" name="Google Shape;250;p39"/>
          <p:cNvPicPr preferRelativeResize="0"/>
          <p:nvPr/>
        </p:nvPicPr>
        <p:blipFill>
          <a:blip r:embed="rId7">
            <a:alphaModFix/>
          </a:blip>
          <a:stretch>
            <a:fillRect/>
          </a:stretch>
        </p:blipFill>
        <p:spPr>
          <a:xfrm>
            <a:off x="9020275" y="152400"/>
            <a:ext cx="2895600" cy="1581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Methods to Reduce Risk</a:t>
            </a:r>
            <a:endParaRPr/>
          </a:p>
        </p:txBody>
      </p:sp>
      <p:sp>
        <p:nvSpPr>
          <p:cNvPr id="256" name="Google Shape;256;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Proper cooking:</a:t>
            </a:r>
            <a:r>
              <a:rPr lang="en-US">
                <a:latin typeface="Times New Roman"/>
                <a:ea typeface="Times New Roman"/>
                <a:cs typeface="Times New Roman"/>
                <a:sym typeface="Times New Roman"/>
              </a:rPr>
              <a:t> Boiling destroys lectins in beans.</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Avoid spoiled or mouldy food:</a:t>
            </a:r>
            <a:r>
              <a:rPr lang="en-US">
                <a:latin typeface="Times New Roman"/>
                <a:ea typeface="Times New Roman"/>
                <a:cs typeface="Times New Roman"/>
                <a:sym typeface="Times New Roman"/>
              </a:rPr>
              <a:t> Prevents mycotoxin exposure.</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Peel green/sprouted potatoes:</a:t>
            </a:r>
            <a:r>
              <a:rPr lang="en-US">
                <a:latin typeface="Times New Roman"/>
                <a:ea typeface="Times New Roman"/>
                <a:cs typeface="Times New Roman"/>
                <a:sym typeface="Times New Roman"/>
              </a:rPr>
              <a:t> Reduces solanine.</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Soaking and fermenting:</a:t>
            </a:r>
            <a:r>
              <a:rPr lang="en-US">
                <a:latin typeface="Times New Roman"/>
                <a:ea typeface="Times New Roman"/>
                <a:cs typeface="Times New Roman"/>
                <a:sym typeface="Times New Roman"/>
              </a:rPr>
              <a:t> Reduces cyanide in cassava.</a:t>
            </a:r>
            <a:endParaRPr/>
          </a:p>
          <a:p>
            <a:pPr indent="-228600" lvl="0" marL="2286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Regulated sourcing:</a:t>
            </a:r>
            <a:r>
              <a:rPr lang="en-US">
                <a:latin typeface="Times New Roman"/>
                <a:ea typeface="Times New Roman"/>
                <a:cs typeface="Times New Roman"/>
                <a:sym typeface="Times New Roman"/>
              </a:rPr>
              <a:t> Especially for seafood and spices.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Common Examples in India</a:t>
            </a:r>
            <a:endParaRPr/>
          </a:p>
        </p:txBody>
      </p:sp>
      <p:graphicFrame>
        <p:nvGraphicFramePr>
          <p:cNvPr id="262" name="Google Shape;262;p41"/>
          <p:cNvGraphicFramePr/>
          <p:nvPr/>
        </p:nvGraphicFramePr>
        <p:xfrm>
          <a:off x="673308" y="1990362"/>
          <a:ext cx="3000000" cy="3000000"/>
        </p:xfrm>
        <a:graphic>
          <a:graphicData uri="http://schemas.openxmlformats.org/drawingml/2006/table">
            <a:tbl>
              <a:tblPr>
                <a:noFill/>
                <a:tableStyleId>{BA132236-CB05-491A-ADC2-CE16D134633F}</a:tableStyleId>
              </a:tblPr>
              <a:tblGrid>
                <a:gridCol w="3737975"/>
                <a:gridCol w="3737975"/>
                <a:gridCol w="3737975"/>
              </a:tblGrid>
              <a:tr h="584575">
                <a:tc>
                  <a:txBody>
                    <a:bodyPr/>
                    <a:lstStyle/>
                    <a:p>
                      <a:pPr indent="0" lvl="0" marL="0" marR="0" rtl="0" algn="l">
                        <a:spcBef>
                          <a:spcPts val="0"/>
                        </a:spcBef>
                        <a:spcAft>
                          <a:spcPts val="0"/>
                        </a:spcAft>
                        <a:buClr>
                          <a:schemeClr val="dk1"/>
                        </a:buClr>
                        <a:buSzPts val="2800"/>
                        <a:buFont typeface="Times New Roman"/>
                        <a:buNone/>
                      </a:pPr>
                      <a:r>
                        <a:rPr b="1" lang="en-US" sz="2800" u="none" cap="none" strike="noStrike">
                          <a:latin typeface="Times New Roman"/>
                          <a:ea typeface="Times New Roman"/>
                          <a:cs typeface="Times New Roman"/>
                          <a:sym typeface="Times New Roman"/>
                        </a:rPr>
                        <a:t>Food</a:t>
                      </a:r>
                      <a:endParaRPr sz="28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b="1" lang="en-US" sz="2800" u="none" cap="none" strike="noStrike">
                          <a:latin typeface="Times New Roman"/>
                          <a:ea typeface="Times New Roman"/>
                          <a:cs typeface="Times New Roman"/>
                          <a:sym typeface="Times New Roman"/>
                        </a:rPr>
                        <a:t>Toxin</a:t>
                      </a:r>
                      <a:endParaRPr sz="28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b="1" lang="en-US" sz="2800" u="none" cap="none" strike="noStrike">
                          <a:latin typeface="Times New Roman"/>
                          <a:ea typeface="Times New Roman"/>
                          <a:cs typeface="Times New Roman"/>
                          <a:sym typeface="Times New Roman"/>
                        </a:rPr>
                        <a:t>Precaution</a:t>
                      </a:r>
                      <a:endParaRPr sz="28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66000">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Lathyrus sativus (Kesari dal)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ODAP neurotoxin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Limit intake to avoid lathyrism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84575">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Groundnuts, maize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Aflatoxins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Store in dry, cool place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66000">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Cassava (tapioca)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Cyanogenic glycosides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Soak, boil properly before consumption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84575">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Mustard seeds (excess)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Erucic acid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800"/>
                        <a:buFont typeface="Times New Roman"/>
                        <a:buNone/>
                      </a:pPr>
                      <a:r>
                        <a:rPr lang="en-US" sz="2800" u="none" cap="none" strike="noStrike">
                          <a:latin typeface="Times New Roman"/>
                          <a:ea typeface="Times New Roman"/>
                          <a:cs typeface="Times New Roman"/>
                          <a:sym typeface="Times New Roman"/>
                        </a:rPr>
                        <a:t>Use in moderation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63" name="Google Shape;263;p41"/>
          <p:cNvPicPr preferRelativeResize="0"/>
          <p:nvPr/>
        </p:nvPicPr>
        <p:blipFill>
          <a:blip r:embed="rId3">
            <a:alphaModFix/>
          </a:blip>
          <a:stretch>
            <a:fillRect/>
          </a:stretch>
        </p:blipFill>
        <p:spPr>
          <a:xfrm>
            <a:off x="9403588" y="156363"/>
            <a:ext cx="2619375" cy="17430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FOOD FORTIFICATION</a:t>
            </a:r>
            <a:endParaRPr/>
          </a:p>
        </p:txBody>
      </p:sp>
      <p:sp>
        <p:nvSpPr>
          <p:cNvPr id="269" name="Google Shape;269;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Food fortification is the practice of deliberately increasing the content of essential micronutrients—such as vitamins and minerals—in food to improve the nutritional quality of the food supply and provide a public health benefit.</a:t>
            </a:r>
            <a:endParaRPr>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Objectives of Food Fortification</a:t>
            </a:r>
            <a:endParaRPr/>
          </a:p>
        </p:txBody>
      </p:sp>
      <p:sp>
        <p:nvSpPr>
          <p:cNvPr id="275" name="Google Shape;275;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 Prevent and control micronutrient deficiencies.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Improve public health and nutritional status.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Provide essential nutrients through commonly consumed foods.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Support cognitive and physical development, especially in children.</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Reduce the burden of diseases linked to deficiencies (e.g., anemia, rickets).</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Types of Food Fortification</a:t>
            </a:r>
            <a:endParaRPr/>
          </a:p>
        </p:txBody>
      </p:sp>
      <p:sp>
        <p:nvSpPr>
          <p:cNvPr id="281" name="Google Shape;281;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1. Mass Fortification – Added to foods consumed by the general population (e.g., salt with iodine).</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2. Targeted Fortification – For specific population groups (e.g., biscuits with iron for school children).</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3. Market-Driven Fortification – Voluntarily added by manufacturers (e.g., breakfast cereals with B-vitamins).</a:t>
            </a:r>
            <a:endParaRPr>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Times New Roman"/>
                <a:ea typeface="Times New Roman"/>
                <a:cs typeface="Times New Roman"/>
                <a:sym typeface="Times New Roman"/>
              </a:rPr>
              <a:t>Commonly Fortified Foods and Nutrients</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Salt – Iodine (to prevent goiter)</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Milk – Vitamin D and A</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Flour – Iron, Folic Acid, B-vitamins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Oil – Vitamin A and D</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Rice – Iron, Zinc, Folic Acid, Vitamin B12</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Times New Roman"/>
                <a:ea typeface="Times New Roman"/>
                <a:cs typeface="Times New Roman"/>
                <a:sym typeface="Times New Roman"/>
              </a:rPr>
              <a:t>Advantages of Food Fortification</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Cost-effective public health intervention.</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Does not require changes in eating habits.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Wide population coverage.</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Quick improvement in nutritional status.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No need for individual compliance.</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Times New Roman"/>
                <a:ea typeface="Times New Roman"/>
                <a:cs typeface="Times New Roman"/>
                <a:sym typeface="Times New Roman"/>
              </a:rPr>
              <a:t>Limitations of Food Fortification</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May not reach the poorest who lack access to processed foods.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Risk of excessive intake if not monitored.</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Limited to foods that are widely consumed.</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Does not address root causes of malnutrition (e.g., poverty, poor sanitation).</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